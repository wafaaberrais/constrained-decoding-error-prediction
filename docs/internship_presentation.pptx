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9" r:id="rId9"/>
    <p:sldId id="270" r:id="rId10"/>
    <p:sldId id="265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97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53C7-03D7-A09F-AF54-9080C12A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4F388-BB39-3F9E-B165-2EFFE4383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FA825-751B-2624-516C-304F91566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20C1-B7F6-B89F-F1CD-E5B496F67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35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772E-A396-D38C-F3E3-1CFE190A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F24F5-7EC3-ACFF-C94C-B286C0412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9D99A-7436-C6C7-AAE7-1E91AC83E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F758C-A39B-6A01-E552-809EDCD56F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76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TA_A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de stage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22376" y="1571208"/>
            <a:ext cx="1089339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3600" dirty="0"/>
              <a:t>Décodage contraint pour la génération de données JSON : limitations des solutions existantes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13232" y="309981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dirty="0"/>
              <a:t>Stage M1 MIND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22376" y="3800536"/>
            <a:ext cx="320040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" y="4206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Etudiante</a:t>
            </a: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: </a:t>
            </a: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Berrais</a:t>
            </a: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Wafaa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Encadrant</a:t>
            </a: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:  Mohamed Amine </a:t>
            </a:r>
            <a:r>
              <a:rPr lang="en-US" sz="1400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Baazizi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BE5DA1-AAAC-31F9-557A-13B808EE5E56}"/>
              </a:ext>
            </a:extLst>
          </p:cNvPr>
          <p:cNvSpPr txBox="1"/>
          <p:nvPr/>
        </p:nvSpPr>
        <p:spPr>
          <a:xfrm>
            <a:off x="7736897" y="696503"/>
            <a:ext cx="4756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1"/>
                </a:solidFill>
              </a:rPr>
              <a:t>Sorbonne Université - Ann</a:t>
            </a:r>
            <a:r>
              <a:rPr lang="fr-FR" sz="1400" dirty="0"/>
              <a:t>é</a:t>
            </a:r>
            <a:r>
              <a:rPr lang="fr-FR" sz="1400" b="1" dirty="0">
                <a:solidFill>
                  <a:schemeClr val="accent1"/>
                </a:solidFill>
              </a:rPr>
              <a:t>e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Sommaire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88920" y="6327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vierge · Data / 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14813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417320" y="1618488"/>
            <a:ext cx="1051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0048" y="1463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</a:t>
            </a:r>
            <a:r>
              <a:rPr lang="en-US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et </a:t>
            </a:r>
            <a:r>
              <a:rPr lang="en-US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problématique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22960" y="21122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417320" y="2249424"/>
            <a:ext cx="1051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70048" y="20939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</a:t>
            </a:r>
            <a:r>
              <a:rPr lang="en-US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utilisées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2960" y="274320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417320" y="2880360"/>
            <a:ext cx="1051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70048" y="27249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</a:t>
            </a:r>
            <a:r>
              <a:rPr lang="en-US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exploratoire</a:t>
            </a:r>
            <a:r>
              <a:rPr lang="en-US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donne</a:t>
            </a:r>
            <a:r>
              <a:rPr lang="fr-FR" sz="1600" b="1" dirty="0" err="1"/>
              <a:t>és</a:t>
            </a:r>
            <a:endParaRPr lang="en-US" sz="1600" b="1" dirty="0"/>
          </a:p>
        </p:txBody>
      </p:sp>
      <p:sp>
        <p:nvSpPr>
          <p:cNvPr id="17" name="Text 14"/>
          <p:cNvSpPr/>
          <p:nvPr/>
        </p:nvSpPr>
        <p:spPr>
          <a:xfrm>
            <a:off x="822960" y="33741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417320" y="3511296"/>
            <a:ext cx="1051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79192" y="34655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Modelisation</a:t>
            </a: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: </a:t>
            </a:r>
            <a:r>
              <a:rPr lang="fr-FR" b="1" dirty="0" err="1"/>
              <a:t>Features</a:t>
            </a:r>
            <a:r>
              <a:rPr lang="fr-FR" b="1" dirty="0"/>
              <a:t>, prédiction et extraction des règles</a:t>
            </a:r>
            <a:endParaRPr lang="en-US" b="1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20" name="Text 17"/>
          <p:cNvSpPr/>
          <p:nvPr/>
        </p:nvSpPr>
        <p:spPr>
          <a:xfrm>
            <a:off x="822960" y="400507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417320" y="4142232"/>
            <a:ext cx="1051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70048" y="39867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</a:t>
            </a: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 Framework</a:t>
            </a:r>
            <a:endParaRPr lang="en-US" sz="1800" b="1" dirty="0"/>
          </a:p>
        </p:txBody>
      </p:sp>
      <p:sp>
        <p:nvSpPr>
          <p:cNvPr id="23" name="Text 20"/>
          <p:cNvSpPr/>
          <p:nvPr/>
        </p:nvSpPr>
        <p:spPr>
          <a:xfrm>
            <a:off x="822960" y="463600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417320" y="4773168"/>
            <a:ext cx="1051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70048" y="4617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</a:t>
            </a: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et perspectives</a:t>
            </a:r>
            <a:endParaRPr lang="en-US" sz="1800" b="1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9625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03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</a:t>
            </a: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et </a:t>
            </a:r>
            <a:r>
              <a:rPr lang="en-US" sz="29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problématique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88920" y="6327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vierge · Data / IA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86968" y="42914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D547D09-0AE9-0B85-9924-2D604C413A0F}"/>
              </a:ext>
            </a:extLst>
          </p:cNvPr>
          <p:cNvSpPr txBox="1"/>
          <p:nvPr/>
        </p:nvSpPr>
        <p:spPr>
          <a:xfrm>
            <a:off x="685800" y="1780674"/>
            <a:ext cx="1110547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Génération JSON structurée avec les </a:t>
            </a:r>
            <a:r>
              <a:rPr lang="fr-FR" sz="2000" dirty="0" err="1"/>
              <a:t>LLMs</a:t>
            </a:r>
            <a:r>
              <a:rPr lang="fr-F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err="1"/>
              <a:t>Constrained</a:t>
            </a:r>
            <a:r>
              <a:rPr lang="fr-FR" sz="2000" dirty="0"/>
              <a:t> </a:t>
            </a:r>
            <a:r>
              <a:rPr lang="fr-FR" sz="2000" dirty="0" err="1"/>
              <a:t>decoding</a:t>
            </a:r>
            <a:r>
              <a:rPr lang="fr-FR" sz="2000" dirty="0"/>
              <a:t>: guider la sortie avec une grammaire, un </a:t>
            </a:r>
            <a:r>
              <a:rPr lang="fr-FR" sz="2000" dirty="0" err="1"/>
              <a:t>template</a:t>
            </a:r>
            <a:r>
              <a:rPr lang="fr-FR" sz="2000" dirty="0"/>
              <a:t> ou un JSON </a:t>
            </a:r>
            <a:r>
              <a:rPr lang="fr-FR" sz="2000" dirty="0" err="1"/>
              <a:t>Schema</a:t>
            </a:r>
            <a:r>
              <a:rPr lang="fr-F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/>
              <a:t>Limite: JSON </a:t>
            </a:r>
            <a:r>
              <a:rPr lang="fr-FR" sz="2000" dirty="0" err="1"/>
              <a:t>Schema</a:t>
            </a:r>
            <a:r>
              <a:rPr lang="fr-FR" sz="2000" dirty="0"/>
              <a:t> est expressif, donc toutes les contraintes ne sont pas toujours supportées.</a:t>
            </a:r>
          </a:p>
          <a:p>
            <a:endParaRPr lang="fr-FR" sz="2000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CB3682B-1ADB-FDC3-53A2-BD7F54BE0B34}"/>
              </a:ext>
            </a:extLst>
          </p:cNvPr>
          <p:cNvSpPr txBox="1"/>
          <p:nvPr/>
        </p:nvSpPr>
        <p:spPr>
          <a:xfrm>
            <a:off x="822960" y="3429000"/>
            <a:ext cx="87846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b="1" dirty="0"/>
              <a:t>Objectif</a:t>
            </a:r>
          </a:p>
          <a:p>
            <a:r>
              <a:rPr lang="fr-FR" sz="2000" dirty="0"/>
              <a:t>Étudier finement les limites des </a:t>
            </a:r>
            <a:r>
              <a:rPr lang="fr-FR" sz="2000" dirty="0" err="1"/>
              <a:t>frameworks</a:t>
            </a:r>
            <a:r>
              <a:rPr lang="fr-FR" sz="2000" dirty="0"/>
              <a:t> de </a:t>
            </a:r>
            <a:r>
              <a:rPr lang="fr-FR" sz="2000" dirty="0" err="1"/>
              <a:t>constrained</a:t>
            </a:r>
            <a:r>
              <a:rPr lang="fr-FR" sz="2000" dirty="0"/>
              <a:t> </a:t>
            </a:r>
            <a:r>
              <a:rPr lang="fr-FR" sz="2000" dirty="0" err="1"/>
              <a:t>decoding</a:t>
            </a:r>
            <a:r>
              <a:rPr lang="fr-FR" sz="2000" dirty="0"/>
              <a:t> </a:t>
            </a:r>
          </a:p>
          <a:p>
            <a:r>
              <a:rPr lang="fr-FR" sz="2000" dirty="0"/>
              <a:t>pour la génération JSON, et comprendre les causes des erreurs de conformité.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/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utilisées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687A072-C108-F65A-627A-C1B14D9D5EC5}"/>
              </a:ext>
            </a:extLst>
          </p:cNvPr>
          <p:cNvSpPr txBox="1"/>
          <p:nvPr/>
        </p:nvSpPr>
        <p:spPr>
          <a:xfrm>
            <a:off x="685800" y="1925053"/>
            <a:ext cx="1010289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Base utilisée: benchmark guidance-ai/</a:t>
            </a:r>
            <a:r>
              <a:rPr lang="fr-FR" dirty="0" err="1"/>
              <a:t>jsonschemabench</a:t>
            </a:r>
            <a:r>
              <a:rPr lang="fr-FR" dirty="0"/>
              <a:t>, contenant des schémas JSON </a:t>
            </a:r>
            <a:r>
              <a:rPr lang="fr-FR" dirty="0" err="1"/>
              <a:t>Schema</a:t>
            </a:r>
            <a:endParaRPr lang="fr-FR" dirty="0"/>
          </a:p>
          <a:p>
            <a:r>
              <a:rPr lang="fr-FR" dirty="0"/>
              <a:t>des instances et leur validité attendue.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Frameworks</a:t>
            </a:r>
            <a:r>
              <a:rPr lang="fr-FR" dirty="0"/>
              <a:t> étudiés:</a:t>
            </a:r>
          </a:p>
          <a:p>
            <a:pPr lvl="1"/>
            <a:r>
              <a:rPr lang="fr-FR" b="1" dirty="0"/>
              <a:t>Guidance</a:t>
            </a:r>
          </a:p>
          <a:p>
            <a:pPr lvl="1"/>
            <a:r>
              <a:rPr lang="fr-FR" b="1" dirty="0" err="1"/>
              <a:t>Outlines</a:t>
            </a:r>
            <a:endParaRPr lang="fr-FR" b="1" dirty="0"/>
          </a:p>
          <a:p>
            <a:pPr lvl="1"/>
            <a:r>
              <a:rPr lang="fr-FR" b="1" dirty="0" err="1"/>
              <a:t>XGrammar</a:t>
            </a:r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Ce que nous avons ajouté: exécuter chaque couple schéma-instance avec chaque </a:t>
            </a:r>
            <a:r>
              <a:rPr lang="fr-FR" dirty="0" err="1"/>
              <a:t>framework</a:t>
            </a:r>
            <a:endParaRPr lang="fr-FR" dirty="0"/>
          </a:p>
          <a:p>
            <a:r>
              <a:rPr lang="fr-FR" dirty="0"/>
              <a:t> sauvegarder la décision obtenue, puis la comparer à la validité attendue.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Labels d'erreur:</a:t>
            </a:r>
          </a:p>
          <a:p>
            <a:pPr lvl="1"/>
            <a:r>
              <a:rPr lang="fr-FR" b="1" dirty="0"/>
              <a:t>UNDER</a:t>
            </a:r>
            <a:r>
              <a:rPr lang="fr-FR" dirty="0"/>
              <a:t>: instance invalide acceptée, donc </a:t>
            </a:r>
            <a:r>
              <a:rPr lang="fr-FR" dirty="0" err="1"/>
              <a:t>framework</a:t>
            </a:r>
            <a:r>
              <a:rPr lang="fr-FR" dirty="0"/>
              <a:t> trop permissif.</a:t>
            </a:r>
          </a:p>
          <a:p>
            <a:pPr lvl="1"/>
            <a:r>
              <a:rPr lang="fr-FR" b="1" dirty="0"/>
              <a:t>OVER</a:t>
            </a:r>
            <a:r>
              <a:rPr lang="fr-FR" dirty="0"/>
              <a:t>: instance valide rejetée, donc </a:t>
            </a:r>
            <a:r>
              <a:rPr lang="fr-FR" dirty="0" err="1"/>
              <a:t>framework</a:t>
            </a:r>
            <a:r>
              <a:rPr lang="fr-FR" dirty="0"/>
              <a:t> trop restrictif.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1925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/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05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9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</a:t>
            </a: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9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exploratoire</a:t>
            </a: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 </a:t>
            </a:r>
            <a:r>
              <a:rPr lang="en-US" sz="2900" b="1" dirty="0" err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donne</a:t>
            </a:r>
            <a:r>
              <a:rPr lang="fr-FR" sz="2800" b="1" dirty="0" err="1"/>
              <a:t>és</a:t>
            </a:r>
            <a:endParaRPr lang="en-US" sz="2800" b="1" dirty="0"/>
          </a:p>
        </p:txBody>
      </p:sp>
      <p:sp>
        <p:nvSpPr>
          <p:cNvPr id="6" name="Shape 3"/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CABA96F6-8C92-6399-F5DB-43F679BD2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25670"/>
          <a:stretch>
            <a:fillRect/>
          </a:stretch>
        </p:blipFill>
        <p:spPr>
          <a:xfrm>
            <a:off x="6352675" y="1211580"/>
            <a:ext cx="4894446" cy="4652298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E71934E8-BA8D-5AB5-FECE-5B568C7CCB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5542"/>
          <a:stretch>
            <a:fillRect/>
          </a:stretch>
        </p:blipFill>
        <p:spPr>
          <a:xfrm>
            <a:off x="1009521" y="1211580"/>
            <a:ext cx="4757615" cy="4514456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1BFCEB08-D3DB-090E-F2C5-5C70EBD11B7A}"/>
              </a:ext>
            </a:extLst>
          </p:cNvPr>
          <p:cNvSpPr txBox="1"/>
          <p:nvPr/>
        </p:nvSpPr>
        <p:spPr>
          <a:xfrm>
            <a:off x="1222408" y="5996539"/>
            <a:ext cx="4580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Figure 1 :Premiers signaux associés aux erreurs OVER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6C9F138-9693-AE05-DB4E-9C684FD7F1D2}"/>
              </a:ext>
            </a:extLst>
          </p:cNvPr>
          <p:cNvSpPr txBox="1"/>
          <p:nvPr/>
        </p:nvSpPr>
        <p:spPr>
          <a:xfrm>
            <a:off x="6352675" y="5996539"/>
            <a:ext cx="4443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Figure 2 :Premiers signaux associés aux erreurs UNDER</a:t>
            </a:r>
          </a:p>
          <a:p>
            <a:endParaRPr lang="fr-FR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-1925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06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fr-FR" sz="3200" b="1" dirty="0" err="1"/>
              <a:t>Features</a:t>
            </a:r>
            <a:r>
              <a:rPr lang="fr-FR" sz="3200" b="1" dirty="0"/>
              <a:t>, prédiction et extraction des règles</a:t>
            </a:r>
            <a:endParaRPr lang="en-US" sz="2900" b="1" dirty="0"/>
          </a:p>
        </p:txBody>
      </p:sp>
      <p:sp>
        <p:nvSpPr>
          <p:cNvPr id="6" name="Shape 3"/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88920" y="6327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vierge · Data / IA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9808" y="1353311"/>
            <a:ext cx="3724658" cy="3728827"/>
          </a:xfrm>
          <a:prstGeom prst="roundRect">
            <a:avLst>
              <a:gd name="adj" fmla="val 2540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862" y="30622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fr-FR" sz="1600" b="1" dirty="0" err="1"/>
              <a:t>Feature</a:t>
            </a:r>
            <a:r>
              <a:rPr lang="fr-FR" sz="1600" b="1" dirty="0"/>
              <a:t> engineering: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présence de mots-clés JSON </a:t>
            </a:r>
            <a:r>
              <a:rPr lang="fr-FR" sz="1600" dirty="0" err="1"/>
              <a:t>Schema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compteurs et profondeurs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contraintes numériques et cas de borne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structure des objets et propriétés extra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complexité string/regex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comportement des </a:t>
            </a:r>
            <a:r>
              <a:rPr lang="fr-FR" sz="1600" dirty="0" err="1"/>
              <a:t>combinators</a:t>
            </a:r>
            <a:r>
              <a:rPr lang="fr-FR" sz="1600" dirty="0"/>
              <a:t> </a:t>
            </a:r>
            <a:r>
              <a:rPr lang="fr-FR" sz="1600" dirty="0" err="1"/>
              <a:t>allOf</a:t>
            </a:r>
            <a:r>
              <a:rPr lang="fr-FR" sz="1600" dirty="0"/>
              <a:t>, </a:t>
            </a:r>
            <a:r>
              <a:rPr lang="fr-FR" sz="1600" dirty="0" err="1"/>
              <a:t>anyOf</a:t>
            </a:r>
            <a:r>
              <a:rPr lang="fr-FR" sz="1600" dirty="0"/>
              <a:t>, </a:t>
            </a:r>
            <a:r>
              <a:rPr lang="fr-FR" sz="1600" dirty="0" err="1"/>
              <a:t>oneOf</a:t>
            </a:r>
            <a:endParaRPr lang="fr-FR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23944" y="2396209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endParaRPr lang="fr-FR" sz="1600" dirty="0"/>
          </a:p>
        </p:txBody>
      </p:sp>
      <p:sp>
        <p:nvSpPr>
          <p:cNvPr id="12" name="Shape 9"/>
          <p:cNvSpPr/>
          <p:nvPr/>
        </p:nvSpPr>
        <p:spPr>
          <a:xfrm>
            <a:off x="4747660" y="1371600"/>
            <a:ext cx="3865987" cy="3710538"/>
          </a:xfrm>
          <a:prstGeom prst="roundRect">
            <a:avLst>
              <a:gd name="adj" fmla="val 2540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3954" y="24871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fr-FR" sz="1600" b="1" dirty="0"/>
              <a:t>Extraction des règles:</a:t>
            </a:r>
          </a:p>
          <a:p>
            <a:r>
              <a:rPr lang="fr-FR" sz="1600" dirty="0"/>
              <a:t>Les règles finales viennent d'arbres de décision peu profonds, entraînés sur les </a:t>
            </a:r>
            <a:r>
              <a:rPr lang="fr-FR" sz="1600" dirty="0" err="1"/>
              <a:t>features</a:t>
            </a:r>
            <a:r>
              <a:rPr lang="fr-FR" sz="1600" dirty="0"/>
              <a:t> retenues (après sélection en utilisant des modelés prédictifs plus avancés).</a:t>
            </a:r>
          </a:p>
        </p:txBody>
      </p:sp>
      <p:sp>
        <p:nvSpPr>
          <p:cNvPr id="14" name="Shape 11"/>
          <p:cNvSpPr/>
          <p:nvPr/>
        </p:nvSpPr>
        <p:spPr>
          <a:xfrm>
            <a:off x="749808" y="5458968"/>
            <a:ext cx="6473952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" y="5678424"/>
            <a:ext cx="9079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1400" dirty="0"/>
              <a:t>Split par </a:t>
            </a:r>
            <a:r>
              <a:rPr lang="fr-FR" dirty="0" err="1"/>
              <a:t>schema_id</a:t>
            </a:r>
            <a:r>
              <a:rPr lang="fr-FR" sz="1400" dirty="0"/>
              <a:t>: les schémas de test ne sont pas vus à l'entraînement.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1925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/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07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900" b="1" dirty="0" err="1">
                <a:solidFill>
                  <a:srgbClr val="0F172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Résultats</a:t>
            </a:r>
            <a:r>
              <a:rPr lang="en-US" sz="2900" b="1" dirty="0">
                <a:solidFill>
                  <a:srgbClr val="0F172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 pour </a:t>
            </a:r>
            <a:r>
              <a:rPr lang="fr-FR" sz="3200" b="1" dirty="0">
                <a:latin typeface="+mj-lt"/>
              </a:rPr>
              <a:t>Guidance</a:t>
            </a:r>
            <a:endParaRPr lang="en-US" sz="2900" b="1" dirty="0">
              <a:latin typeface="+mj-l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1764" y="2144990"/>
            <a:ext cx="10128166" cy="3950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Arbre interprétable OVER:  </a:t>
            </a:r>
            <a:r>
              <a:rPr lang="fr-FR" sz="1500" b="1" dirty="0"/>
              <a:t>F1 0.793, précision 0.746, rappel 0.847</a:t>
            </a:r>
            <a:r>
              <a:rPr lang="fr-FR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Exemples de signaux dans les règles:</a:t>
            </a:r>
          </a:p>
          <a:p>
            <a:pPr lvl="1"/>
            <a:r>
              <a:rPr lang="fr-FR" sz="1500" dirty="0"/>
              <a:t>beaucoup de propriétés déclarées dans le schéma</a:t>
            </a:r>
          </a:p>
          <a:p>
            <a:pPr lvl="1"/>
            <a:r>
              <a:rPr lang="fr-FR" sz="1500" dirty="0"/>
              <a:t>nombreux contextes string</a:t>
            </a:r>
          </a:p>
          <a:p>
            <a:pPr lvl="1"/>
            <a:r>
              <a:rPr lang="fr-FR" sz="1500" dirty="0"/>
              <a:t>objets complexes</a:t>
            </a:r>
          </a:p>
          <a:p>
            <a:pPr lvl="1"/>
            <a:r>
              <a:rPr lang="fr-FR" sz="1500" dirty="0"/>
              <a:t>instances avec longues chaînes ou valeurs numériques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Test </a:t>
            </a:r>
            <a:r>
              <a:rPr lang="fr-FR" sz="1500" dirty="0"/>
              <a:t>externe sur la data </a:t>
            </a:r>
            <a:r>
              <a:rPr lang="fr-FR" sz="1500" dirty="0" err="1"/>
              <a:t>Kubernetes</a:t>
            </a:r>
            <a:r>
              <a:rPr lang="fr-FR" sz="1500" dirty="0"/>
              <a:t> : </a:t>
            </a:r>
            <a:r>
              <a:rPr lang="fr-FR" sz="1500" b="1" dirty="0"/>
              <a:t>F1 0.774, précision 0.707, rappel 0.856.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Les règles OVER de Guidance semblent relativement transférables.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F71A9E79-4F4D-1B36-8ADD-039864494C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11" y="3676996"/>
            <a:ext cx="11995272" cy="2358045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58029994-2662-823F-551F-8101449C0A41}"/>
              </a:ext>
            </a:extLst>
          </p:cNvPr>
          <p:cNvSpPr txBox="1"/>
          <p:nvPr/>
        </p:nvSpPr>
        <p:spPr>
          <a:xfrm>
            <a:off x="3467947" y="6115997"/>
            <a:ext cx="407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Figure 3 : Guidance: arbre de décision pour les règles OVER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9F2844A-253C-54B3-4358-90D7B4CBB5E3}"/>
              </a:ext>
            </a:extLst>
          </p:cNvPr>
          <p:cNvSpPr txBox="1"/>
          <p:nvPr/>
        </p:nvSpPr>
        <p:spPr>
          <a:xfrm>
            <a:off x="921698" y="3301980"/>
            <a:ext cx="53860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/>
              <a:t>UNDER</a:t>
            </a:r>
            <a:r>
              <a:rPr lang="fr-FR" sz="1600" dirty="0"/>
              <a:t>: pas de modèle exploitable, car pas de cas positifs.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B95AD-92FA-042D-2727-85D60341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>
            <a:extLst>
              <a:ext uri="{FF2B5EF4-FFF2-40B4-BE49-F238E27FC236}">
                <a16:creationId xmlns:a16="http://schemas.microsoft.com/office/drawing/2014/main" id="{CF773465-3163-6872-FA35-9539B2A847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B4F9BFA-34A3-3A2A-E4DD-41DC1E43A3A4}"/>
              </a:ext>
            </a:extLst>
          </p:cNvPr>
          <p:cNvSpPr/>
          <p:nvPr/>
        </p:nvSpPr>
        <p:spPr>
          <a:xfrm>
            <a:off x="658368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B33AE5E-A6AB-0F45-3AAE-29C2037B033F}"/>
              </a:ext>
            </a:extLst>
          </p:cNvPr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08</a:t>
            </a:r>
            <a:endParaRPr lang="en-US" sz="9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8976640-20D3-8EDE-198C-E83EFE30EBCD}"/>
              </a:ext>
            </a:extLst>
          </p:cNvPr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900" b="1" dirty="0" err="1">
                <a:solidFill>
                  <a:srgbClr val="0F172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Résultats</a:t>
            </a:r>
            <a:r>
              <a:rPr lang="en-US" sz="2900" b="1" dirty="0">
                <a:solidFill>
                  <a:srgbClr val="0F172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 pour </a:t>
            </a:r>
            <a:r>
              <a:rPr lang="fr-FR" sz="3200" b="1" dirty="0" err="1">
                <a:latin typeface="+mj-lt"/>
              </a:rPr>
              <a:t>Outlines</a:t>
            </a:r>
            <a:endParaRPr lang="en-US" sz="2900" b="1" dirty="0">
              <a:latin typeface="+mj-lt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25710D0-9B67-4F4A-FB69-1A4B08961487}"/>
              </a:ext>
            </a:extLst>
          </p:cNvPr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4394A4B-C998-897F-B569-A10114336922}"/>
              </a:ext>
            </a:extLst>
          </p:cNvPr>
          <p:cNvSpPr/>
          <p:nvPr/>
        </p:nvSpPr>
        <p:spPr>
          <a:xfrm>
            <a:off x="886967" y="2005122"/>
            <a:ext cx="10128166" cy="3950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Arbre interprétable UNDER</a:t>
            </a:r>
            <a:r>
              <a:rPr lang="fr-FR" sz="1500" b="1" dirty="0"/>
              <a:t>: F1 0.733, précision 0.907, rappel 0.615.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Arbre interprétable OVER: </a:t>
            </a:r>
            <a:r>
              <a:rPr lang="fr-FR" sz="1500" b="1" dirty="0"/>
              <a:t>F1 0.797, précision 0.867, rappel 0.737.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Exemples de signaux dans les règles:</a:t>
            </a:r>
          </a:p>
          <a:p>
            <a:pPr lvl="1"/>
            <a:r>
              <a:rPr lang="fr-FR" sz="1500" dirty="0"/>
              <a:t>UNDER: contraintes numériques profondes, cas de borne, contexte objet sans propriétés extra</a:t>
            </a:r>
          </a:p>
          <a:p>
            <a:pPr lvl="1"/>
            <a:r>
              <a:rPr lang="fr-FR" sz="1500" dirty="0"/>
              <a:t>OVER: clés non reconnues liées à </a:t>
            </a:r>
            <a:r>
              <a:rPr lang="fr-FR" sz="1500" dirty="0" err="1"/>
              <a:t>additionalProperties</a:t>
            </a:r>
            <a:r>
              <a:rPr lang="fr-FR" sz="1500" dirty="0"/>
              <a:t>, </a:t>
            </a:r>
            <a:r>
              <a:rPr lang="fr-FR" sz="1500" dirty="0" err="1"/>
              <a:t>allOf</a:t>
            </a:r>
            <a:r>
              <a:rPr lang="fr-FR" sz="1500" dirty="0"/>
              <a:t>, </a:t>
            </a:r>
            <a:r>
              <a:rPr lang="fr-FR" sz="1500" dirty="0" err="1"/>
              <a:t>patternProperties</a:t>
            </a:r>
            <a:r>
              <a:rPr lang="fr-FR" sz="1500" dirty="0"/>
              <a:t>, </a:t>
            </a:r>
            <a:r>
              <a:rPr lang="fr-FR" sz="1500" dirty="0" err="1"/>
              <a:t>additionalProperties</a:t>
            </a:r>
            <a:r>
              <a:rPr lang="fr-FR" sz="1500" dirty="0"/>
              <a:t>: false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 err="1"/>
              <a:t>Kubernetes</a:t>
            </a:r>
            <a:r>
              <a:rPr lang="fr-FR" sz="1500" dirty="0"/>
              <a:t> externe OVER: </a:t>
            </a:r>
            <a:r>
              <a:rPr lang="fr-FR" sz="1500" b="1" dirty="0"/>
              <a:t>F1 0.542, précision 1.000, rappel 0.372.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Les règles sont fiables quand elles s'activent, mais ne couvrent pas tous les cas externes.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E37CD2F-8B3F-2C00-0AA7-73F498A604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9D3590E-87C6-D6B2-E7B1-656370E6A2FB}"/>
              </a:ext>
            </a:extLst>
          </p:cNvPr>
          <p:cNvSpPr txBox="1"/>
          <p:nvPr/>
        </p:nvSpPr>
        <p:spPr>
          <a:xfrm>
            <a:off x="3740092" y="5610133"/>
            <a:ext cx="4053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Figure 4 : </a:t>
            </a:r>
            <a:r>
              <a:rPr lang="fr-FR" sz="1200" dirty="0" err="1"/>
              <a:t>Outlines</a:t>
            </a:r>
            <a:r>
              <a:rPr lang="fr-FR" sz="1200" dirty="0"/>
              <a:t>: arbre de décision pour les règles Under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59849FE-8BBD-5F22-80DE-D5ADC76D3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585" y="3020507"/>
            <a:ext cx="11078510" cy="258423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90D67B1-F649-1FC8-14E9-33CFB8AC3ECB}"/>
              </a:ext>
            </a:extLst>
          </p:cNvPr>
          <p:cNvSpPr txBox="1"/>
          <p:nvPr/>
        </p:nvSpPr>
        <p:spPr>
          <a:xfrm>
            <a:off x="685800" y="6035041"/>
            <a:ext cx="9523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Note:</a:t>
            </a:r>
            <a:r>
              <a:rPr lang="fr-FR" sz="1600" dirty="0"/>
              <a:t> pas de score externe significatif pour UNDER, car </a:t>
            </a:r>
            <a:r>
              <a:rPr lang="fr-FR" sz="1600" dirty="0" err="1"/>
              <a:t>Kubernetes</a:t>
            </a:r>
            <a:r>
              <a:rPr lang="fr-FR" sz="1600" dirty="0"/>
              <a:t> ne contient pas de cas UNDER positifs</a:t>
            </a:r>
          </a:p>
        </p:txBody>
      </p:sp>
    </p:spTree>
    <p:extLst>
      <p:ext uri="{BB962C8B-B14F-4D97-AF65-F5344CB8AC3E}">
        <p14:creationId xmlns:p14="http://schemas.microsoft.com/office/powerpoint/2010/main" val="65649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10031-8341-B64C-3719-F592718A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>
            <a:extLst>
              <a:ext uri="{FF2B5EF4-FFF2-40B4-BE49-F238E27FC236}">
                <a16:creationId xmlns:a16="http://schemas.microsoft.com/office/drawing/2014/main" id="{C5325675-2D90-379F-C8EF-90D47A5BAA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A6CAFAE-E7A9-2F33-2835-295E12C0B81C}"/>
              </a:ext>
            </a:extLst>
          </p:cNvPr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202C067-F60E-263E-CAE0-3B1DE179A7D5}"/>
              </a:ext>
            </a:extLst>
          </p:cNvPr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09</a:t>
            </a:r>
            <a:endParaRPr lang="en-US" sz="9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2DCD801-4DCC-60B4-0638-C9BF97E74F44}"/>
              </a:ext>
            </a:extLst>
          </p:cNvPr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900" b="1" dirty="0" err="1">
                <a:solidFill>
                  <a:srgbClr val="0F172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Résultats</a:t>
            </a:r>
            <a:r>
              <a:rPr lang="en-US" sz="2900" b="1" dirty="0">
                <a:solidFill>
                  <a:srgbClr val="0F172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 pour </a:t>
            </a:r>
            <a:r>
              <a:rPr lang="fr-FR" sz="3200" b="1" dirty="0" err="1">
                <a:latin typeface="+mj-lt"/>
              </a:rPr>
              <a:t>XGrammer</a:t>
            </a:r>
            <a:endParaRPr lang="en-US" sz="2900" b="1" dirty="0">
              <a:latin typeface="+mj-lt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C574F7A-4CE3-BCF2-C2A9-AA25D21CFAFD}"/>
              </a:ext>
            </a:extLst>
          </p:cNvPr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DE77A9-DC55-FD00-84C4-40EEC87409BF}"/>
              </a:ext>
            </a:extLst>
          </p:cNvPr>
          <p:cNvSpPr/>
          <p:nvPr/>
        </p:nvSpPr>
        <p:spPr>
          <a:xfrm>
            <a:off x="886967" y="2204257"/>
            <a:ext cx="10128166" cy="3950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Arbre interprétable </a:t>
            </a:r>
            <a:r>
              <a:rPr lang="fr-FR" dirty="0"/>
              <a:t>UNDER</a:t>
            </a:r>
            <a:r>
              <a:rPr lang="fr-FR" sz="1600" dirty="0"/>
              <a:t>: </a:t>
            </a:r>
            <a:r>
              <a:rPr lang="fr-FR" sz="1600" b="1" dirty="0"/>
              <a:t>F1 0.601, précision 0.450, rappel 0.904.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Arbre interprétable </a:t>
            </a:r>
            <a:r>
              <a:rPr lang="fr-FR" dirty="0"/>
              <a:t>OVER</a:t>
            </a:r>
            <a:r>
              <a:rPr lang="fr-FR" sz="1600" dirty="0"/>
              <a:t>: </a:t>
            </a:r>
            <a:r>
              <a:rPr lang="fr-FR" sz="1600" b="1" dirty="0"/>
              <a:t>F1 0.749, précision 0.897, rappel 0.642.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500" dirty="0"/>
              <a:t>Exemples de signaux dans les règles:</a:t>
            </a:r>
          </a:p>
          <a:p>
            <a:pPr lvl="1"/>
            <a:r>
              <a:rPr lang="fr-FR" sz="1500" dirty="0"/>
              <a:t>OVER: </a:t>
            </a:r>
            <a:r>
              <a:rPr lang="fr-FR" sz="1500" dirty="0" err="1"/>
              <a:t>patternProperties</a:t>
            </a:r>
            <a:r>
              <a:rPr lang="fr-FR" sz="1500" dirty="0"/>
              <a:t> + clés de l’instance qui matchent les patterns + contexte </a:t>
            </a:r>
            <a:r>
              <a:rPr lang="fr-FR" sz="1500" dirty="0" err="1"/>
              <a:t>additionalProperties</a:t>
            </a:r>
            <a:r>
              <a:rPr lang="fr-FR" sz="1500" dirty="0"/>
              <a:t>.</a:t>
            </a:r>
          </a:p>
          <a:p>
            <a:pPr lvl="1"/>
            <a:r>
              <a:rPr lang="fr-FR" sz="1500" dirty="0"/>
              <a:t>UNDER: </a:t>
            </a:r>
            <a:r>
              <a:rPr lang="fr-FR" sz="1500" dirty="0" err="1"/>
              <a:t>allOf</a:t>
            </a:r>
            <a:r>
              <a:rPr lang="fr-FR" sz="1500" dirty="0"/>
              <a:t> partiellement satisfait, </a:t>
            </a:r>
            <a:r>
              <a:rPr lang="fr-FR" sz="1500" dirty="0" err="1"/>
              <a:t>mismatch</a:t>
            </a:r>
            <a:r>
              <a:rPr lang="fr-FR" sz="1500" dirty="0"/>
              <a:t> de type ou </a:t>
            </a:r>
            <a:r>
              <a:rPr lang="fr-FR" sz="1500" dirty="0" err="1"/>
              <a:t>required</a:t>
            </a:r>
            <a:r>
              <a:rPr lang="fr-FR" sz="1500" dirty="0"/>
              <a:t> dans les </a:t>
            </a:r>
            <a:r>
              <a:rPr lang="fr-FR" sz="1500" dirty="0" err="1"/>
              <a:t>combinators</a:t>
            </a:r>
            <a:r>
              <a:rPr lang="fr-FR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/>
              <a:t>Kubernetes</a:t>
            </a:r>
            <a:r>
              <a:rPr lang="fr-FR" sz="1600" dirty="0"/>
              <a:t> externe </a:t>
            </a:r>
            <a:r>
              <a:rPr lang="fr-FR" dirty="0"/>
              <a:t>OVER</a:t>
            </a:r>
            <a:r>
              <a:rPr lang="fr-FR" sz="1600" dirty="0"/>
              <a:t>: </a:t>
            </a:r>
            <a:r>
              <a:rPr lang="fr-FR" sz="1600" b="1" dirty="0"/>
              <a:t>F1 0.379, précision 0.988, rappel 0.234</a:t>
            </a:r>
            <a:r>
              <a:rPr lang="fr-FR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Les règles sont interprétables et utiles, mais pas encore comme lois universelles.</a:t>
            </a:r>
            <a:endParaRPr lang="en-US" sz="15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6ABF8B9-EBE9-995C-11D2-895E5F57AC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BF0194F-1634-6286-017C-21C24FC26440}"/>
              </a:ext>
            </a:extLst>
          </p:cNvPr>
          <p:cNvSpPr txBox="1"/>
          <p:nvPr/>
        </p:nvSpPr>
        <p:spPr>
          <a:xfrm>
            <a:off x="3467947" y="6115997"/>
            <a:ext cx="4173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Figure 5 : </a:t>
            </a:r>
            <a:r>
              <a:rPr lang="fr-FR" sz="1200" dirty="0" err="1"/>
              <a:t>XGrammer</a:t>
            </a:r>
            <a:r>
              <a:rPr lang="fr-FR" sz="1200" dirty="0"/>
              <a:t>: arbre de décision pour les règles OVER</a:t>
            </a: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C1433379-DE9C-C285-4B77-508100227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1624" y="3484518"/>
            <a:ext cx="10228446" cy="263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69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274320"/>
            <a:ext cx="1554480" cy="301752"/>
          </a:xfrm>
          <a:prstGeom prst="roundRect">
            <a:avLst>
              <a:gd name="adj" fmla="val 4848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3337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58368" y="71323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Interprétation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67512" y="6446520"/>
            <a:ext cx="2011680" cy="0"/>
          </a:xfrm>
          <a:prstGeom prst="line">
            <a:avLst/>
          </a:prstGeom>
          <a:noFill/>
          <a:ln w="1524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88920" y="6327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vierge · Data / IA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720839" y="1419606"/>
            <a:ext cx="4271211" cy="3162861"/>
          </a:xfrm>
          <a:prstGeom prst="roundRect">
            <a:avLst>
              <a:gd name="adj" fmla="val 1975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76288" y="2623005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fr-FR" sz="1600" b="1" dirty="0"/>
              <a:t>Utilisation future avec les </a:t>
            </a:r>
            <a:r>
              <a:rPr lang="fr-FR" sz="1600" b="1" dirty="0" err="1"/>
              <a:t>LLMs</a:t>
            </a:r>
            <a:r>
              <a:rPr lang="fr-FR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détecter les schémas à risque avant génération.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générer des tests ciblés sur ces contraintes.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enrichir les prompts avec cas limites et contre-exemples.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adapter le </a:t>
            </a:r>
            <a:r>
              <a:rPr lang="fr-FR" sz="1600" dirty="0" err="1"/>
              <a:t>framework</a:t>
            </a:r>
            <a:r>
              <a:rPr lang="fr-FR" sz="1600" dirty="0"/>
              <a:t> ou les contraintes selon le type de schéma.</a:t>
            </a:r>
          </a:p>
        </p:txBody>
      </p:sp>
      <p:sp>
        <p:nvSpPr>
          <p:cNvPr id="10" name="Shape 7"/>
          <p:cNvSpPr/>
          <p:nvPr/>
        </p:nvSpPr>
        <p:spPr>
          <a:xfrm>
            <a:off x="685800" y="1421892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82296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fr-FR" sz="1600" b="1" dirty="0"/>
              <a:t>Résultat principal: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les règles identifient des configurations à risque interprétables;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elles expliquent mieux les erreurs que des scores globaux seuls.</a:t>
            </a:r>
          </a:p>
        </p:txBody>
      </p:sp>
      <p:sp>
        <p:nvSpPr>
          <p:cNvPr id="12" name="Shape 9"/>
          <p:cNvSpPr/>
          <p:nvPr/>
        </p:nvSpPr>
        <p:spPr>
          <a:xfrm>
            <a:off x="667512" y="3364992"/>
            <a:ext cx="5349240" cy="164592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81834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fr-FR" sz="1600" b="1" dirty="0"/>
              <a:t>Limites</a:t>
            </a:r>
            <a:r>
              <a:rPr lang="fr-FR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règles corrélationnelles, pas encore causales.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généralisation variable selon les </a:t>
            </a:r>
            <a:r>
              <a:rPr lang="fr-FR" sz="1600" dirty="0" err="1"/>
              <a:t>frameworks</a:t>
            </a:r>
            <a:r>
              <a:rPr lang="fr-F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validation externe à étendre à plus de </a:t>
            </a:r>
            <a:r>
              <a:rPr lang="fr-FR" sz="1600" dirty="0" err="1"/>
              <a:t>datasets</a:t>
            </a:r>
            <a:r>
              <a:rPr lang="fr-FR" sz="1600" dirty="0"/>
              <a:t>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inimalist_abstract_tech_background_scene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828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Merci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749808" y="2761488"/>
            <a:ext cx="4114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713232" y="2682078"/>
            <a:ext cx="28346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37307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808</Words>
  <Application>Microsoft Office PowerPoint</Application>
  <PresentationFormat>Grand écran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Projet Data IA</dc:title>
  <dc:subject>Modèle vierge pour présentation de projet Data/IA</dc:subject>
  <dc:creator>OpenAI</dc:creator>
  <cp:lastModifiedBy>wafaaberrais2@gmail.com</cp:lastModifiedBy>
  <cp:revision>2</cp:revision>
  <dcterms:created xsi:type="dcterms:W3CDTF">2026-09-06T08:52:27Z</dcterms:created>
  <dcterms:modified xsi:type="dcterms:W3CDTF">2026-09-06T18:28:36Z</dcterms:modified>
</cp:coreProperties>
</file>